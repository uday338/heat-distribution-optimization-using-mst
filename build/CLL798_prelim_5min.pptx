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- 15 s. One line: 'We asked whether the minimum spanning tree, which is the standard answer for pipe network layout, survives contact with real terrain. It does not, in three separate ways.' Then move straight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- 45 s. Nodes are substations, edges are candidate trenches, a valid layout is a spanning tree, and there are 10^62 of them so you need an algorithm. Two REAL German networks from the AixDHN census dataset, real household demand, real SRTM terrain. Bremen is flat at 63 m relief, Stuttgart is 282 m. That contrast is the controlled experiment. Note the star on the left is 3x the pipe length. Move on quickly.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1 - 55 s. We replaced straight-line distance with terrain-weighted construction cost: 3D slope length times a trenching multiplier that rises with gradient, sampled on the real DEM. In Stuttgart this changes which tree is optimal and saves 3% of total annual cost - for a tree that is LONGER in metres. In flat Bremen it returns the identical tree, which is the control experiment behaving exactly as it must.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2 - 55 s. The binding terrain constraint is NOT pumping cost. In a closed supply/return loop the static head cancels - the return leg gives it back - so pumping is friction only. What does not cancel is the static pressure the pipe must physically hold: 282 m of relief is 26.3 bar against a PN16 pipe class. One zone can hold 151 m. So Stuttgart needs two pressure zones and Bremen needs one. We choose where to split with spectral bisection of the Laplacian - that is a balanced minimum cut, because every pipe crossing a boundary needs an exchanger station. Course material doing real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3 - 60 s. Structurally, every edge of a tree is a bridge, so any single pipe failure strands everything downstream. This answers a question we were asked: does a Steiner tree fix it? No. A Steiner tree is still a tree. RSMT is the CHEAPEST topology we found at 20.87 EUR/MWh, but it has 59 bridges against the MST's 40, because Steiner points concentrate flow into shared trunks. Steiner solves cost; only cycles solve faults. Adding one redundant pipe costs 4.3% and removes 57% of expected unserved demand. Note the star is the most RELIABLE topology - that is the trade-off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4 - 50 s. All three MST implementations written from scratch and verified to return identical tree weight. Our own earlier slides predicted that a dense graph favours Prim. The measurement says it favours the DENSE ARRAY Prim - 212x faster than the heap version - while heap Prim is the worst choice. Kruskal beats heap Prim by terminating early, examining 0.7% of the sorted edge list. On the reproduction: we matched the paper's MST column exactly, but found its Table 2 is not internally consistent, and its reported Steiner ratio sits below a proved geometric lower bound. If asked, we also re-derived their heat transfer coefficient independently to 0.16%.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- 20 s. One sentence: terrain belongs in the edge weight, pressure class belongs in the constraints, reliability belongs in the objective. Then stop and take questions. Do NOT read the four numbers aloud - they are there for the audience to scan.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A1F"/>
        </a:solidFill>
        <a:effectLst/>
      </p:bgPr>
    </p:bg>
    <p:spTree>
      <p:nvGrpSpPr>
        <p:cNvPr id="1" name=""/>
        <p:cNvGrpSpPr/>
        <p:nvPr/>
      </p:nvGrpSpPr>
      <p:grpSpPr/>
      <p:sp>
        <p:nvSpPr>
          <p:cNvPr id="2" name="TextBox 1"/>
          <p:cNvSpPr txBox="1"/>
          <p:nvPr/>
        </p:nvSpPr>
        <p:spPr>
          <a:xfrm>
            <a:off x="475488" y="457200"/>
            <a:ext cx="11240719" cy="365760"/>
          </a:xfrm>
          <a:prstGeom prst="rect">
            <a:avLst/>
          </a:prstGeom>
          <a:noFill/>
        </p:spPr>
        <p:txBody>
          <a:bodyPr wrap="square" anchor="t" lIns="0" rIns="0" tIns="0" bIns="0">
            <a:spAutoFit/>
          </a:bodyPr>
          <a:lstStyle/>
          <a:p>
            <a:pPr>
              <a:spcAft>
                <a:spcPts val="0"/>
              </a:spcAft>
            </a:pPr>
            <a:r>
              <a:rPr sz="1150" b="0">
                <a:solidFill>
                  <a:srgbClr val="8098A1"/>
                </a:solidFill>
                <a:latin typeface="Consolas"/>
              </a:rPr>
              <a:t>CLL798D / CHL7903  </a:t>
            </a:r>
            <a:r>
              <a:rPr sz="1150" b="0">
                <a:solidFill>
                  <a:srgbClr val="8098A1"/>
                </a:solidFill>
                <a:latin typeface="Consolas"/>
              </a:rPr>
              <a:t>·  NETWORK SCIENCE  ·  PRELIM REVIEW  ·  09 SEP 2026</a:t>
            </a:r>
          </a:p>
        </p:txBody>
      </p:sp>
      <p:sp>
        <p:nvSpPr>
          <p:cNvPr id="3" name="TextBox 2"/>
          <p:cNvSpPr txBox="1"/>
          <p:nvPr/>
        </p:nvSpPr>
        <p:spPr>
          <a:xfrm>
            <a:off x="475488" y="1417320"/>
            <a:ext cx="11240719" cy="2377440"/>
          </a:xfrm>
          <a:prstGeom prst="rect">
            <a:avLst/>
          </a:prstGeom>
          <a:noFill/>
        </p:spPr>
        <p:txBody>
          <a:bodyPr wrap="square" anchor="t" lIns="0" rIns="0" tIns="0" bIns="0">
            <a:spAutoFit/>
          </a:bodyPr>
          <a:lstStyle/>
          <a:p>
            <a:pPr algn="l">
              <a:lnSpc>
                <a:spcPct val="92000"/>
              </a:lnSpc>
              <a:spcAft>
                <a:spcPts val="0"/>
              </a:spcAft>
            </a:pPr>
            <a:r>
              <a:rPr sz="4400" b="1">
                <a:solidFill>
                  <a:srgbClr val="EAF2F2"/>
                </a:solidFill>
                <a:latin typeface="Segoe UI"/>
              </a:rPr>
              <a:t>Minimum spanning trees don't survive</a:t>
            </a:r>
          </a:p>
          <a:p>
            <a:pPr algn="l">
              <a:lnSpc>
                <a:spcPct val="92000"/>
              </a:lnSpc>
              <a:spcAft>
                <a:spcPts val="0"/>
              </a:spcAft>
            </a:pPr>
            <a:r>
              <a:rPr sz="4400" b="1">
                <a:solidFill>
                  <a:srgbClr val="FF7A3D"/>
                </a:solidFill>
                <a:latin typeface="Segoe UI"/>
              </a:rPr>
              <a:t>contact with a hillside</a:t>
            </a:r>
          </a:p>
        </p:txBody>
      </p:sp>
      <p:sp>
        <p:nvSpPr>
          <p:cNvPr id="4" name="TextBox 3"/>
          <p:cNvSpPr txBox="1"/>
          <p:nvPr/>
        </p:nvSpPr>
        <p:spPr>
          <a:xfrm>
            <a:off x="475488" y="3520440"/>
            <a:ext cx="8595360" cy="1097280"/>
          </a:xfrm>
          <a:prstGeom prst="rect">
            <a:avLst/>
          </a:prstGeom>
          <a:noFill/>
        </p:spPr>
        <p:txBody>
          <a:bodyPr wrap="square" anchor="t" lIns="0" rIns="0" tIns="0" bIns="0">
            <a:spAutoFit/>
          </a:bodyPr>
          <a:lstStyle/>
          <a:p>
            <a:pPr algn="l">
              <a:lnSpc>
                <a:spcPct val="105000"/>
              </a:lnSpc>
              <a:spcAft>
                <a:spcPts val="0"/>
              </a:spcAft>
            </a:pPr>
            <a:r>
              <a:rPr sz="1600" b="0">
                <a:solidFill>
                  <a:srgbClr val="B9CDD4"/>
                </a:solidFill>
                <a:latin typeface="Segoe UI"/>
              </a:rPr>
              <a:t>Graph-theoretic topology optimisation of district-heating pipe networks — on two real German networks, real SRTM terrain, and a transport-phenomena cost model.</a:t>
            </a:r>
          </a:p>
        </p:txBody>
      </p:sp>
      <p:sp>
        <p:nvSpPr>
          <p:cNvPr id="5" name="TextBox 4"/>
          <p:cNvSpPr txBox="1"/>
          <p:nvPr/>
        </p:nvSpPr>
        <p:spPr>
          <a:xfrm>
            <a:off x="475488" y="4983480"/>
            <a:ext cx="3472586" cy="640080"/>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REAL NETWORKS</a:t>
            </a:r>
          </a:p>
          <a:p>
            <a:pPr algn="l">
              <a:spcAft>
                <a:spcPts val="0"/>
              </a:spcAft>
            </a:pPr>
            <a:r>
              <a:rPr sz="1400" b="1">
                <a:solidFill>
                  <a:srgbClr val="5AD2A8"/>
                </a:solidFill>
                <a:latin typeface="Segoe UI"/>
              </a:rPr>
              <a:t>Bremen  ·  Stuttgart</a:t>
            </a:r>
          </a:p>
        </p:txBody>
      </p:sp>
      <p:sp>
        <p:nvSpPr>
          <p:cNvPr id="6" name="TextBox 5"/>
          <p:cNvSpPr txBox="1"/>
          <p:nvPr/>
        </p:nvSpPr>
        <p:spPr>
          <a:xfrm>
            <a:off x="4222394" y="4983480"/>
            <a:ext cx="3472586" cy="640080"/>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TERRAIN</a:t>
            </a:r>
          </a:p>
          <a:p>
            <a:pPr algn="l">
              <a:spcAft>
                <a:spcPts val="0"/>
              </a:spcAft>
            </a:pPr>
            <a:r>
              <a:rPr sz="1400" b="1">
                <a:solidFill>
                  <a:srgbClr val="5AD2A8"/>
                </a:solidFill>
                <a:latin typeface="Segoe UI"/>
              </a:rPr>
              <a:t>NASA SRTM 30 m</a:t>
            </a:r>
          </a:p>
        </p:txBody>
      </p:sp>
      <p:sp>
        <p:nvSpPr>
          <p:cNvPr id="7" name="TextBox 6"/>
          <p:cNvSpPr txBox="1"/>
          <p:nvPr/>
        </p:nvSpPr>
        <p:spPr>
          <a:xfrm>
            <a:off x="7969300" y="4983480"/>
            <a:ext cx="3472586" cy="640080"/>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ALGORITHMS</a:t>
            </a:r>
          </a:p>
          <a:p>
            <a:pPr algn="l">
              <a:spcAft>
                <a:spcPts val="0"/>
              </a:spcAft>
            </a:pPr>
            <a:r>
              <a:rPr sz="1400" b="1">
                <a:solidFill>
                  <a:srgbClr val="5AD2A8"/>
                </a:solidFill>
                <a:latin typeface="Segoe UI"/>
              </a:rPr>
              <a:t>Kruskal · Prim · Steiner</a:t>
            </a:r>
          </a:p>
        </p:txBody>
      </p:sp>
      <p:sp>
        <p:nvSpPr>
          <p:cNvPr id="8" name="Rectangle 7"/>
          <p:cNvSpPr/>
          <p:nvPr/>
        </p:nvSpPr>
        <p:spPr>
          <a:xfrm>
            <a:off x="475488" y="5989320"/>
            <a:ext cx="11240719" cy="10972"/>
          </a:xfrm>
          <a:prstGeom prst="rect">
            <a:avLst/>
          </a:prstGeom>
          <a:solidFill>
            <a:srgbClr val="244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6172200"/>
            <a:ext cx="11240719" cy="365760"/>
          </a:xfrm>
          <a:prstGeom prst="rect">
            <a:avLst/>
          </a:prstGeom>
          <a:noFill/>
        </p:spPr>
        <p:txBody>
          <a:bodyPr wrap="square" anchor="t" lIns="0" rIns="0" tIns="0" bIns="0">
            <a:spAutoFit/>
          </a:bodyPr>
          <a:lstStyle/>
          <a:p>
            <a:pPr algn="l">
              <a:spcAft>
                <a:spcPts val="0"/>
              </a:spcAft>
            </a:pPr>
            <a:r>
              <a:rPr sz="1150" b="0">
                <a:solidFill>
                  <a:srgbClr val="8098A1"/>
                </a:solidFill>
                <a:latin typeface="Consolas"/>
              </a:rPr>
              <a:t>Pathway 1 — reproduce and extend  ·  Gao et al. (2020), Chem. Eng. Transactions 81, 277–282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A1F"/>
        </a:solidFill>
        <a:effectLst/>
      </p:bgPr>
    </p:bg>
    <p:spTree>
      <p:nvGrpSpPr>
        <p:cNvPr id="1" name=""/>
        <p:cNvGrpSpPr/>
        <p:nvPr/>
      </p:nvGrpSpPr>
      <p:grpSpPr/>
      <p:sp>
        <p:nvSpPr>
          <p:cNvPr id="2" name="TextBox 1"/>
          <p:cNvSpPr txBox="1"/>
          <p:nvPr/>
        </p:nvSpPr>
        <p:spPr>
          <a:xfrm>
            <a:off x="475488" y="274320"/>
            <a:ext cx="11240719" cy="274320"/>
          </a:xfrm>
          <a:prstGeom prst="rect">
            <a:avLst/>
          </a:prstGeom>
          <a:noFill/>
        </p:spPr>
        <p:txBody>
          <a:bodyPr wrap="square" anchor="t" lIns="0" rIns="0" tIns="0" bIns="0">
            <a:spAutoFit/>
          </a:bodyPr>
          <a:lstStyle/>
          <a:p>
            <a:pPr>
              <a:spcAft>
                <a:spcPts val="0"/>
              </a:spcAft>
            </a:pPr>
            <a:r>
              <a:rPr sz="1150" b="1">
                <a:solidFill>
                  <a:srgbClr val="FF7A3D"/>
                </a:solidFill>
                <a:latin typeface="Consolas"/>
              </a:rPr>
              <a:t>02   </a:t>
            </a:r>
            <a:r>
              <a:rPr sz="1150" b="0">
                <a:solidFill>
                  <a:srgbClr val="B9CDD4"/>
                </a:solidFill>
                <a:latin typeface="Consolas"/>
              </a:rPr>
              <a:t>SETUP · PROBLEM, DATA, METHOD</a:t>
            </a:r>
          </a:p>
        </p:txBody>
      </p:sp>
      <p:sp>
        <p:nvSpPr>
          <p:cNvPr id="3" name="Rectangle 2"/>
          <p:cNvSpPr/>
          <p:nvPr/>
        </p:nvSpPr>
        <p:spPr>
          <a:xfrm>
            <a:off x="475488" y="603504"/>
            <a:ext cx="11240719" cy="10972"/>
          </a:xfrm>
          <a:prstGeom prst="rect">
            <a:avLst/>
          </a:prstGeom>
          <a:solidFill>
            <a:srgbClr val="244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777240"/>
            <a:ext cx="11240719" cy="822960"/>
          </a:xfrm>
          <a:prstGeom prst="rect">
            <a:avLst/>
          </a:prstGeom>
          <a:noFill/>
        </p:spPr>
        <p:txBody>
          <a:bodyPr wrap="square" anchor="t" lIns="0" rIns="0" tIns="0" bIns="0">
            <a:spAutoFit/>
          </a:bodyPr>
          <a:lstStyle/>
          <a:p>
            <a:pPr algn="l">
              <a:lnSpc>
                <a:spcPct val="92000"/>
              </a:lnSpc>
              <a:spcAft>
                <a:spcPts val="0"/>
              </a:spcAft>
            </a:pPr>
            <a:r>
              <a:rPr sz="3000" b="1">
                <a:solidFill>
                  <a:srgbClr val="EAF2F2"/>
                </a:solidFill>
                <a:latin typeface="Segoe UI"/>
              </a:rPr>
              <a:t>A pipe network is a graph, and the topology is the design decision</a:t>
            </a:r>
          </a:p>
        </p:txBody>
      </p:sp>
      <p:pic>
        <p:nvPicPr>
          <p:cNvPr id="5" name="Picture 4" descr="fig1_networks.png"/>
          <p:cNvPicPr>
            <a:picLocks noChangeAspect="1"/>
          </p:cNvPicPr>
          <p:nvPr/>
        </p:nvPicPr>
        <p:blipFill>
          <a:blip r:embed="rId2"/>
          <a:stretch>
            <a:fillRect/>
          </a:stretch>
        </p:blipFill>
        <p:spPr>
          <a:xfrm>
            <a:off x="475488" y="1600200"/>
            <a:ext cx="7360920" cy="5159143"/>
          </a:xfrm>
          <a:prstGeom prst="rect">
            <a:avLst/>
          </a:prstGeom>
        </p:spPr>
      </p:pic>
      <p:sp>
        <p:nvSpPr>
          <p:cNvPr id="6" name="TextBox 5"/>
          <p:cNvSpPr txBox="1"/>
          <p:nvPr/>
        </p:nvSpPr>
        <p:spPr>
          <a:xfrm>
            <a:off x="8110727" y="1600200"/>
            <a:ext cx="3605479" cy="1371600"/>
          </a:xfrm>
          <a:prstGeom prst="rect">
            <a:avLst/>
          </a:prstGeom>
          <a:noFill/>
        </p:spPr>
        <p:txBody>
          <a:bodyPr wrap="square" anchor="t" lIns="0" rIns="0" tIns="0" bIns="0">
            <a:spAutoFit/>
          </a:bodyPr>
          <a:lstStyle/>
          <a:p>
            <a:pPr algn="l">
              <a:spcAft>
                <a:spcPts val="600"/>
              </a:spcAft>
            </a:pPr>
            <a:r>
              <a:rPr sz="950" b="0">
                <a:solidFill>
                  <a:srgbClr val="8098A1"/>
                </a:solidFill>
                <a:latin typeface="Consolas"/>
              </a:rPr>
              <a:t>THE GRAPH</a:t>
            </a:r>
          </a:p>
          <a:p>
            <a:pPr algn="l">
              <a:spcAft>
                <a:spcPts val="300"/>
              </a:spcAft>
            </a:pPr>
            <a:r>
              <a:rPr sz="1300" b="0">
                <a:solidFill>
                  <a:srgbClr val="EAF2F2"/>
                </a:solidFill>
                <a:latin typeface="Consolas"/>
              </a:rPr>
              <a:t>V = 1 plant + 40 substations</a:t>
            </a:r>
          </a:p>
          <a:p>
            <a:pPr algn="l">
              <a:spcAft>
                <a:spcPts val="300"/>
              </a:spcAft>
            </a:pPr>
            <a:r>
              <a:rPr sz="1300" b="0">
                <a:solidFill>
                  <a:srgbClr val="EAF2F2"/>
                </a:solidFill>
                <a:latin typeface="Consolas"/>
              </a:rPr>
              <a:t>E = every feasible trench route</a:t>
            </a:r>
          </a:p>
          <a:p>
            <a:pPr algn="l">
              <a:spcAft>
                <a:spcPts val="300"/>
              </a:spcAft>
            </a:pPr>
            <a:r>
              <a:rPr sz="1300" b="0">
                <a:solidFill>
                  <a:srgbClr val="EAF2F2"/>
                </a:solidFill>
                <a:latin typeface="Consolas"/>
              </a:rPr>
              <a:t>layout = spanning tree</a:t>
            </a:r>
          </a:p>
          <a:p>
            <a:pPr>
              <a:spcAft>
                <a:spcPts val="0"/>
              </a:spcAft>
            </a:pPr>
            <a:r>
              <a:rPr sz="1300" b="0">
                <a:solidFill>
                  <a:srgbClr val="EAF2F2"/>
                </a:solidFill>
                <a:latin typeface="Consolas"/>
              </a:rPr>
              <a:t>candidates = </a:t>
            </a:r>
            <a:r>
              <a:rPr sz="1300" b="1">
                <a:solidFill>
                  <a:srgbClr val="FF7A3D"/>
                </a:solidFill>
                <a:latin typeface="Consolas"/>
              </a:rPr>
              <a:t>41</a:t>
            </a:r>
            <a:r>
              <a:rPr sz="1300" b="1">
                <a:solidFill>
                  <a:srgbClr val="FF7A3D"/>
                </a:solidFill>
                <a:latin typeface="Consolas"/>
              </a:rPr>
              <a:t>^39 ≈ 10^62</a:t>
            </a:r>
          </a:p>
        </p:txBody>
      </p:sp>
      <p:sp>
        <p:nvSpPr>
          <p:cNvPr id="7" name="Rectangle 6"/>
          <p:cNvSpPr/>
          <p:nvPr/>
        </p:nvSpPr>
        <p:spPr>
          <a:xfrm>
            <a:off x="8110727" y="3246120"/>
            <a:ext cx="3605479" cy="1051560"/>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7031" y="3374136"/>
            <a:ext cx="3312871" cy="795527"/>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REAL DEMAND</a:t>
            </a:r>
          </a:p>
          <a:p>
            <a:pPr algn="l">
              <a:lnSpc>
                <a:spcPct val="90000"/>
              </a:lnSpc>
              <a:spcAft>
                <a:spcPts val="300"/>
              </a:spcAft>
            </a:pPr>
            <a:r>
              <a:rPr sz="2700" b="1">
                <a:solidFill>
                  <a:srgbClr val="5AD2A8"/>
                </a:solidFill>
                <a:latin typeface="Segoe UI"/>
              </a:rPr>
              <a:t>859 GWh/y</a:t>
            </a:r>
          </a:p>
          <a:p>
            <a:pPr algn="l">
              <a:lnSpc>
                <a:spcPct val="95000"/>
              </a:lnSpc>
              <a:spcAft>
                <a:spcPts val="0"/>
              </a:spcAft>
            </a:pPr>
            <a:r>
              <a:rPr sz="1150" b="0">
                <a:solidFill>
                  <a:srgbClr val="B9CDD4"/>
                </a:solidFill>
                <a:latin typeface="Segoe UI"/>
              </a:rPr>
              <a:t>67,314 households, from the AixDHN census dataset</a:t>
            </a:r>
          </a:p>
        </p:txBody>
      </p:sp>
      <p:sp>
        <p:nvSpPr>
          <p:cNvPr id="9" name="Rectangle 8"/>
          <p:cNvSpPr/>
          <p:nvPr/>
        </p:nvSpPr>
        <p:spPr>
          <a:xfrm>
            <a:off x="8110727" y="4434840"/>
            <a:ext cx="3605479" cy="1051560"/>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1" y="4562855"/>
            <a:ext cx="3312871" cy="795527"/>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REAL TERRAIN</a:t>
            </a:r>
          </a:p>
          <a:p>
            <a:pPr algn="l">
              <a:lnSpc>
                <a:spcPct val="90000"/>
              </a:lnSpc>
              <a:spcAft>
                <a:spcPts val="300"/>
              </a:spcAft>
            </a:pPr>
            <a:r>
              <a:rPr sz="2700" b="1">
                <a:solidFill>
                  <a:srgbClr val="5AD2A8"/>
                </a:solidFill>
                <a:latin typeface="Segoe UI"/>
              </a:rPr>
              <a:t>29,248 pts</a:t>
            </a:r>
          </a:p>
          <a:p>
            <a:pPr algn="l">
              <a:lnSpc>
                <a:spcPct val="95000"/>
              </a:lnSpc>
              <a:spcAft>
                <a:spcPts val="0"/>
              </a:spcAft>
            </a:pPr>
            <a:r>
              <a:rPr sz="1150" b="0">
                <a:solidFill>
                  <a:srgbClr val="B9CDD4"/>
                </a:solidFill>
                <a:latin typeface="Segoe UI"/>
              </a:rPr>
              <a:t>NASA SRTM 30 m, sampled every 25 m along each route</a:t>
            </a:r>
          </a:p>
        </p:txBody>
      </p:sp>
      <p:sp>
        <p:nvSpPr>
          <p:cNvPr id="11" name="Rectangle 10"/>
          <p:cNvSpPr/>
          <p:nvPr/>
        </p:nvSpPr>
        <p:spPr>
          <a:xfrm>
            <a:off x="8110727" y="5623560"/>
            <a:ext cx="3605479" cy="914400"/>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5751576"/>
            <a:ext cx="3312871" cy="658368"/>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RELIEF CONTRAST</a:t>
            </a:r>
          </a:p>
          <a:p>
            <a:pPr algn="l">
              <a:lnSpc>
                <a:spcPct val="90000"/>
              </a:lnSpc>
              <a:spcAft>
                <a:spcPts val="300"/>
              </a:spcAft>
            </a:pPr>
            <a:r>
              <a:rPr sz="2700" b="1">
                <a:solidFill>
                  <a:srgbClr val="FFCC55"/>
                </a:solidFill>
                <a:latin typeface="Segoe UI"/>
              </a:rPr>
              <a:t>63 m  vs  282 m</a:t>
            </a:r>
          </a:p>
          <a:p>
            <a:pPr algn="l">
              <a:lnSpc>
                <a:spcPct val="95000"/>
              </a:lnSpc>
              <a:spcAft>
                <a:spcPts val="0"/>
              </a:spcAft>
            </a:pPr>
            <a:r>
              <a:rPr sz="1150" b="0">
                <a:solidFill>
                  <a:srgbClr val="B9CDD4"/>
                </a:solidFill>
                <a:latin typeface="Segoe UI"/>
              </a:rPr>
              <a:t>Bremen against Stuttgart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A1F"/>
        </a:solidFill>
        <a:effectLst/>
      </p:bgPr>
    </p:bg>
    <p:spTree>
      <p:nvGrpSpPr>
        <p:cNvPr id="1" name=""/>
        <p:cNvGrpSpPr/>
        <p:nvPr/>
      </p:nvGrpSpPr>
      <p:grpSpPr/>
      <p:sp>
        <p:nvSpPr>
          <p:cNvPr id="2" name="TextBox 1"/>
          <p:cNvSpPr txBox="1"/>
          <p:nvPr/>
        </p:nvSpPr>
        <p:spPr>
          <a:xfrm>
            <a:off x="475488" y="274320"/>
            <a:ext cx="11240719" cy="274320"/>
          </a:xfrm>
          <a:prstGeom prst="rect">
            <a:avLst/>
          </a:prstGeom>
          <a:noFill/>
        </p:spPr>
        <p:txBody>
          <a:bodyPr wrap="square" anchor="t" lIns="0" rIns="0" tIns="0" bIns="0">
            <a:spAutoFit/>
          </a:bodyPr>
          <a:lstStyle/>
          <a:p>
            <a:pPr>
              <a:spcAft>
                <a:spcPts val="0"/>
              </a:spcAft>
            </a:pPr>
            <a:r>
              <a:rPr sz="1150" b="1">
                <a:solidFill>
                  <a:srgbClr val="FF7A3D"/>
                </a:solidFill>
                <a:latin typeface="Consolas"/>
              </a:rPr>
              <a:t>03   </a:t>
            </a:r>
            <a:r>
              <a:rPr sz="1150" b="0">
                <a:solidFill>
                  <a:srgbClr val="B9CDD4"/>
                </a:solidFill>
                <a:latin typeface="Consolas"/>
              </a:rPr>
              <a:t>RESULT 1 · TERRAIN-WEIGHTED ROUTING</a:t>
            </a:r>
          </a:p>
        </p:txBody>
      </p:sp>
      <p:sp>
        <p:nvSpPr>
          <p:cNvPr id="3" name="Rectangle 2"/>
          <p:cNvSpPr/>
          <p:nvPr/>
        </p:nvSpPr>
        <p:spPr>
          <a:xfrm>
            <a:off x="475488" y="603504"/>
            <a:ext cx="11240719" cy="10972"/>
          </a:xfrm>
          <a:prstGeom prst="rect">
            <a:avLst/>
          </a:prstGeom>
          <a:solidFill>
            <a:srgbClr val="244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777240"/>
            <a:ext cx="11240719" cy="822960"/>
          </a:xfrm>
          <a:prstGeom prst="rect">
            <a:avLst/>
          </a:prstGeom>
          <a:noFill/>
        </p:spPr>
        <p:txBody>
          <a:bodyPr wrap="square" anchor="t" lIns="0" rIns="0" tIns="0" bIns="0">
            <a:spAutoFit/>
          </a:bodyPr>
          <a:lstStyle/>
          <a:p>
            <a:pPr algn="l">
              <a:lnSpc>
                <a:spcPct val="92000"/>
              </a:lnSpc>
              <a:spcAft>
                <a:spcPts val="0"/>
              </a:spcAft>
            </a:pPr>
            <a:r>
              <a:rPr sz="3000" b="1">
                <a:solidFill>
                  <a:srgbClr val="EAF2F2"/>
                </a:solidFill>
                <a:latin typeface="Segoe UI"/>
              </a:rPr>
              <a:t>A longer tree can be the cheaper tree</a:t>
            </a:r>
          </a:p>
        </p:txBody>
      </p:sp>
      <p:pic>
        <p:nvPicPr>
          <p:cNvPr id="5" name="Picture 4" descr="fig3_terrain_effect.png"/>
          <p:cNvPicPr>
            <a:picLocks noChangeAspect="1"/>
          </p:cNvPicPr>
          <p:nvPr/>
        </p:nvPicPr>
        <p:blipFill>
          <a:blip r:embed="rId2"/>
          <a:stretch>
            <a:fillRect/>
          </a:stretch>
        </p:blipFill>
        <p:spPr>
          <a:xfrm>
            <a:off x="2696207" y="1572768"/>
            <a:ext cx="6799279" cy="3401568"/>
          </a:xfrm>
          <a:prstGeom prst="rect">
            <a:avLst/>
          </a:prstGeom>
        </p:spPr>
      </p:pic>
      <p:sp>
        <p:nvSpPr>
          <p:cNvPr id="6" name="Rectangle 5"/>
          <p:cNvSpPr/>
          <p:nvPr/>
        </p:nvSpPr>
        <p:spPr>
          <a:xfrm>
            <a:off x="475488" y="5138928"/>
            <a:ext cx="3566160" cy="1170432"/>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5266944"/>
            <a:ext cx="3273552" cy="914400"/>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STUTTGART · HILLY</a:t>
            </a:r>
          </a:p>
          <a:p>
            <a:pPr algn="l">
              <a:lnSpc>
                <a:spcPct val="90000"/>
              </a:lnSpc>
              <a:spcAft>
                <a:spcPts val="300"/>
              </a:spcAft>
            </a:pPr>
            <a:r>
              <a:rPr sz="2700" b="1">
                <a:solidFill>
                  <a:srgbClr val="FF7A3D"/>
                </a:solidFill>
                <a:latin typeface="Segoe UI"/>
              </a:rPr>
              <a:t>−3.0 % TAC</a:t>
            </a:r>
          </a:p>
          <a:p>
            <a:pPr algn="l">
              <a:lnSpc>
                <a:spcPct val="95000"/>
              </a:lnSpc>
              <a:spcAft>
                <a:spcPts val="0"/>
              </a:spcAft>
            </a:pPr>
            <a:r>
              <a:rPr sz="1150" b="0">
                <a:solidFill>
                  <a:srgbClr val="B9CDD4"/>
                </a:solidFill>
                <a:latin typeface="Segoe UI"/>
              </a:rPr>
              <a:t>23.09 → 22.39 EUR/MWh, for a tree that is 0.03 km LONGER</a:t>
            </a:r>
          </a:p>
        </p:txBody>
      </p:sp>
      <p:sp>
        <p:nvSpPr>
          <p:cNvPr id="8" name="Rectangle 7"/>
          <p:cNvSpPr/>
          <p:nvPr/>
        </p:nvSpPr>
        <p:spPr>
          <a:xfrm>
            <a:off x="4224527" y="5138928"/>
            <a:ext cx="3566160" cy="1170432"/>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0831" y="5266944"/>
            <a:ext cx="3273552" cy="914400"/>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BREMEN · FLAT</a:t>
            </a:r>
          </a:p>
          <a:p>
            <a:pPr algn="l">
              <a:lnSpc>
                <a:spcPct val="90000"/>
              </a:lnSpc>
              <a:spcAft>
                <a:spcPts val="300"/>
              </a:spcAft>
            </a:pPr>
            <a:r>
              <a:rPr sz="2700" b="1">
                <a:solidFill>
                  <a:srgbClr val="5AD2A8"/>
                </a:solidFill>
                <a:latin typeface="Segoe UI"/>
              </a:rPr>
              <a:t>0.0 %</a:t>
            </a:r>
          </a:p>
          <a:p>
            <a:pPr algn="l">
              <a:lnSpc>
                <a:spcPct val="95000"/>
              </a:lnSpc>
              <a:spcAft>
                <a:spcPts val="0"/>
              </a:spcAft>
            </a:pPr>
            <a:r>
              <a:rPr sz="1150" b="0">
                <a:solidFill>
                  <a:srgbClr val="B9CDD4"/>
                </a:solidFill>
                <a:latin typeface="Segoe UI"/>
              </a:rPr>
              <a:t>terrain weighting returns the identical tree — the control works</a:t>
            </a:r>
          </a:p>
        </p:txBody>
      </p:sp>
      <p:sp>
        <p:nvSpPr>
          <p:cNvPr id="10" name="Rectangle 9"/>
          <p:cNvSpPr/>
          <p:nvPr/>
        </p:nvSpPr>
        <p:spPr>
          <a:xfrm>
            <a:off x="7973567" y="5184648"/>
            <a:ext cx="41148" cy="1097280"/>
          </a:xfrm>
          <a:prstGeom prst="rect">
            <a:avLst/>
          </a:prstGeom>
          <a:solidFill>
            <a:srgbClr val="FF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56447" y="5202936"/>
            <a:ext cx="3523183" cy="1097280"/>
          </a:xfrm>
          <a:prstGeom prst="rect">
            <a:avLst/>
          </a:prstGeom>
          <a:noFill/>
        </p:spPr>
        <p:txBody>
          <a:bodyPr wrap="square" anchor="t" lIns="0" rIns="0" tIns="0" bIns="0">
            <a:spAutoFit/>
          </a:bodyPr>
          <a:lstStyle/>
          <a:p>
            <a:pPr algn="l">
              <a:spcAft>
                <a:spcPts val="400"/>
              </a:spcAft>
            </a:pPr>
            <a:r>
              <a:rPr sz="950" b="0">
                <a:solidFill>
                  <a:srgbClr val="FF7A3D"/>
                </a:solidFill>
                <a:latin typeface="Consolas"/>
              </a:rPr>
              <a:t>WHY IT MATTERS</a:t>
            </a:r>
          </a:p>
          <a:p>
            <a:pPr algn="l">
              <a:lnSpc>
                <a:spcPct val="98000"/>
              </a:lnSpc>
              <a:spcAft>
                <a:spcPts val="0"/>
              </a:spcAft>
            </a:pPr>
            <a:r>
              <a:rPr sz="1300" b="0">
                <a:solidFill>
                  <a:srgbClr val="EAF2F2"/>
                </a:solidFill>
                <a:latin typeface="Segoe UI"/>
              </a:rPr>
              <a:t>Minimising length and minimising cost are the same problem only on flat ground. The saving is free — same algorithm, better edge weight.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A1F"/>
        </a:solidFill>
        <a:effectLst/>
      </p:bgPr>
    </p:bg>
    <p:spTree>
      <p:nvGrpSpPr>
        <p:cNvPr id="1" name=""/>
        <p:cNvGrpSpPr/>
        <p:nvPr/>
      </p:nvGrpSpPr>
      <p:grpSpPr/>
      <p:sp>
        <p:nvSpPr>
          <p:cNvPr id="2" name="TextBox 1"/>
          <p:cNvSpPr txBox="1"/>
          <p:nvPr/>
        </p:nvSpPr>
        <p:spPr>
          <a:xfrm>
            <a:off x="475488" y="274320"/>
            <a:ext cx="11240719" cy="274320"/>
          </a:xfrm>
          <a:prstGeom prst="rect">
            <a:avLst/>
          </a:prstGeom>
          <a:noFill/>
        </p:spPr>
        <p:txBody>
          <a:bodyPr wrap="square" anchor="t" lIns="0" rIns="0" tIns="0" bIns="0">
            <a:spAutoFit/>
          </a:bodyPr>
          <a:lstStyle/>
          <a:p>
            <a:pPr>
              <a:spcAft>
                <a:spcPts val="0"/>
              </a:spcAft>
            </a:pPr>
            <a:r>
              <a:rPr sz="1150" b="1">
                <a:solidFill>
                  <a:srgbClr val="FF7A3D"/>
                </a:solidFill>
                <a:latin typeface="Consolas"/>
              </a:rPr>
              <a:t>04   </a:t>
            </a:r>
            <a:r>
              <a:rPr sz="1150" b="0">
                <a:solidFill>
                  <a:srgbClr val="B9CDD4"/>
                </a:solidFill>
                <a:latin typeface="Consolas"/>
              </a:rPr>
              <a:t>RESULT 2 · HYDRAULIC FEASIBILITY</a:t>
            </a:r>
          </a:p>
        </p:txBody>
      </p:sp>
      <p:sp>
        <p:nvSpPr>
          <p:cNvPr id="3" name="Rectangle 2"/>
          <p:cNvSpPr/>
          <p:nvPr/>
        </p:nvSpPr>
        <p:spPr>
          <a:xfrm>
            <a:off x="475488" y="603504"/>
            <a:ext cx="11240719" cy="10972"/>
          </a:xfrm>
          <a:prstGeom prst="rect">
            <a:avLst/>
          </a:prstGeom>
          <a:solidFill>
            <a:srgbClr val="244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777240"/>
            <a:ext cx="11240719" cy="822960"/>
          </a:xfrm>
          <a:prstGeom prst="rect">
            <a:avLst/>
          </a:prstGeom>
          <a:noFill/>
        </p:spPr>
        <p:txBody>
          <a:bodyPr wrap="square" anchor="t" lIns="0" rIns="0" tIns="0" bIns="0">
            <a:spAutoFit/>
          </a:bodyPr>
          <a:lstStyle/>
          <a:p>
            <a:pPr algn="l">
              <a:lnSpc>
                <a:spcPct val="92000"/>
              </a:lnSpc>
              <a:spcAft>
                <a:spcPts val="0"/>
              </a:spcAft>
            </a:pPr>
            <a:r>
              <a:rPr sz="3000" b="1">
                <a:solidFill>
                  <a:srgbClr val="EAF2F2"/>
                </a:solidFill>
                <a:latin typeface="Segoe UI"/>
              </a:rPr>
              <a:t>In Stuttgart the cost-optimal tree cannot legally be built</a:t>
            </a:r>
          </a:p>
        </p:txBody>
      </p:sp>
      <p:pic>
        <p:nvPicPr>
          <p:cNvPr id="5" name="Picture 4" descr="fig8_pressure_zones.png"/>
          <p:cNvPicPr>
            <a:picLocks noChangeAspect="1"/>
          </p:cNvPicPr>
          <p:nvPr/>
        </p:nvPicPr>
        <p:blipFill>
          <a:blip r:embed="rId2"/>
          <a:stretch>
            <a:fillRect/>
          </a:stretch>
        </p:blipFill>
        <p:spPr>
          <a:xfrm>
            <a:off x="475488" y="1572768"/>
            <a:ext cx="7772400" cy="2838932"/>
          </a:xfrm>
          <a:prstGeom prst="rect">
            <a:avLst/>
          </a:prstGeom>
        </p:spPr>
      </p:pic>
      <p:sp>
        <p:nvSpPr>
          <p:cNvPr id="6" name="TextBox 5"/>
          <p:cNvSpPr txBox="1"/>
          <p:nvPr/>
        </p:nvSpPr>
        <p:spPr>
          <a:xfrm>
            <a:off x="8522208" y="1645920"/>
            <a:ext cx="3193999" cy="1737360"/>
          </a:xfrm>
          <a:prstGeom prst="rect">
            <a:avLst/>
          </a:prstGeom>
          <a:noFill/>
        </p:spPr>
        <p:txBody>
          <a:bodyPr wrap="square" anchor="t" lIns="0" rIns="0" tIns="0" bIns="0">
            <a:spAutoFit/>
          </a:bodyPr>
          <a:lstStyle/>
          <a:p>
            <a:pPr algn="l">
              <a:spcAft>
                <a:spcPts val="700"/>
              </a:spcAft>
            </a:pPr>
            <a:r>
              <a:rPr sz="950" b="0">
                <a:solidFill>
                  <a:srgbClr val="8098A1"/>
                </a:solidFill>
                <a:latin typeface="Consolas"/>
              </a:rPr>
              <a:t>STATIC PRESSURE</a:t>
            </a:r>
          </a:p>
          <a:p>
            <a:pPr algn="l">
              <a:spcAft>
                <a:spcPts val="1000"/>
              </a:spcAft>
            </a:pPr>
            <a:r>
              <a:rPr sz="1400" b="0">
                <a:solidFill>
                  <a:srgbClr val="EAF2F2"/>
                </a:solidFill>
                <a:latin typeface="Consolas"/>
              </a:rPr>
              <a:t>p(z) = p₀ + ρg(z₀ − z)</a:t>
            </a:r>
          </a:p>
          <a:p>
            <a:pPr>
              <a:spcAft>
                <a:spcPts val="500"/>
              </a:spcAft>
            </a:pPr>
            <a:r>
              <a:rPr sz="1350" b="0">
                <a:solidFill>
                  <a:srgbClr val="B9CDD4"/>
                </a:solidFill>
                <a:latin typeface="Consolas"/>
              </a:rPr>
              <a:t>ρgΔz over 282 m   </a:t>
            </a:r>
            <a:r>
              <a:rPr sz="1350" b="1">
                <a:solidFill>
                  <a:srgbClr val="FF6B6B"/>
                </a:solidFill>
                <a:latin typeface="Consolas"/>
              </a:rPr>
              <a:t>26.3 bar</a:t>
            </a:r>
          </a:p>
          <a:p>
            <a:pPr>
              <a:spcAft>
                <a:spcPts val="500"/>
              </a:spcAft>
            </a:pPr>
            <a:r>
              <a:rPr sz="1350" b="0">
                <a:solidFill>
                  <a:srgbClr val="B9CDD4"/>
                </a:solidFill>
                <a:latin typeface="Consolas"/>
              </a:rPr>
              <a:t>PN16 pipe class     </a:t>
            </a:r>
            <a:r>
              <a:rPr sz="1350" b="1">
                <a:solidFill>
                  <a:srgbClr val="EAF2F2"/>
                </a:solidFill>
                <a:latin typeface="Consolas"/>
              </a:rPr>
              <a:t>16.0 bar</a:t>
            </a:r>
          </a:p>
          <a:p>
            <a:pPr>
              <a:spcAft>
                <a:spcPts val="0"/>
              </a:spcAft>
            </a:pPr>
            <a:r>
              <a:rPr sz="1350" b="0">
                <a:solidFill>
                  <a:srgbClr val="B9CDD4"/>
                </a:solidFill>
                <a:latin typeface="Consolas"/>
              </a:rPr>
              <a:t>one-zone limit      </a:t>
            </a:r>
            <a:r>
              <a:rPr sz="1350" b="1">
                <a:solidFill>
                  <a:srgbClr val="FFCC55"/>
                </a:solidFill>
                <a:latin typeface="Consolas"/>
              </a:rPr>
              <a:t>151 m</a:t>
            </a:r>
          </a:p>
        </p:txBody>
      </p:sp>
      <p:sp>
        <p:nvSpPr>
          <p:cNvPr id="7" name="Rectangle 6"/>
          <p:cNvSpPr/>
          <p:nvPr/>
        </p:nvSpPr>
        <p:spPr>
          <a:xfrm>
            <a:off x="8522208" y="3703320"/>
            <a:ext cx="3193999" cy="1051560"/>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3831335"/>
            <a:ext cx="2901391" cy="795527"/>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PRESSURE ZONES NEEDED</a:t>
            </a:r>
          </a:p>
          <a:p>
            <a:pPr algn="l">
              <a:lnSpc>
                <a:spcPct val="90000"/>
              </a:lnSpc>
              <a:spcAft>
                <a:spcPts val="300"/>
              </a:spcAft>
            </a:pPr>
            <a:r>
              <a:rPr sz="2700" b="1">
                <a:solidFill>
                  <a:srgbClr val="FFCC55"/>
                </a:solidFill>
                <a:latin typeface="Segoe UI"/>
              </a:rPr>
              <a:t>Stuttgart 2   Bremen 1</a:t>
            </a:r>
          </a:p>
          <a:p>
            <a:pPr algn="l">
              <a:lnSpc>
                <a:spcPct val="95000"/>
              </a:lnSpc>
              <a:spcAft>
                <a:spcPts val="0"/>
              </a:spcAft>
            </a:pPr>
            <a:r>
              <a:rPr sz="1150" b="0">
                <a:solidFill>
                  <a:srgbClr val="B9CDD4"/>
                </a:solidFill>
                <a:latin typeface="Segoe UI"/>
              </a:rPr>
              <a:t>an exchanger station breaks the static column</a:t>
            </a:r>
          </a:p>
        </p:txBody>
      </p:sp>
      <p:sp>
        <p:nvSpPr>
          <p:cNvPr id="9" name="Rectangle 8"/>
          <p:cNvSpPr/>
          <p:nvPr/>
        </p:nvSpPr>
        <p:spPr>
          <a:xfrm>
            <a:off x="8522208" y="4983480"/>
            <a:ext cx="41148" cy="1554480"/>
          </a:xfrm>
          <a:prstGeom prst="rect">
            <a:avLst/>
          </a:prstGeom>
          <a:solidFill>
            <a:srgbClr val="FF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05088" y="5001768"/>
            <a:ext cx="2974543" cy="1554480"/>
          </a:xfrm>
          <a:prstGeom prst="rect">
            <a:avLst/>
          </a:prstGeom>
          <a:noFill/>
        </p:spPr>
        <p:txBody>
          <a:bodyPr wrap="square" anchor="t" lIns="0" rIns="0" tIns="0" bIns="0">
            <a:spAutoFit/>
          </a:bodyPr>
          <a:lstStyle/>
          <a:p>
            <a:pPr algn="l">
              <a:spcAft>
                <a:spcPts val="400"/>
              </a:spcAft>
            </a:pPr>
            <a:r>
              <a:rPr sz="950" b="0">
                <a:solidFill>
                  <a:srgbClr val="FF7A3D"/>
                </a:solidFill>
                <a:latin typeface="Consolas"/>
              </a:rPr>
              <a:t>SPECTRAL BISECTION AT WORK</a:t>
            </a:r>
          </a:p>
          <a:p>
            <a:pPr algn="l">
              <a:lnSpc>
                <a:spcPct val="98000"/>
              </a:lnSpc>
              <a:spcAft>
                <a:spcPts val="0"/>
              </a:spcAft>
            </a:pPr>
            <a:r>
              <a:rPr sz="1300" b="0">
                <a:solidFill>
                  <a:srgbClr val="EAF2F2"/>
                </a:solidFill>
                <a:latin typeface="Segoe UI"/>
              </a:rPr>
              <a:t>Where to split is a balanced minimum cut — separate by elevation, cut as few pipes as possible. The Fiedler vector of the Laplacian is the classical relaxation of exactly that.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A1F"/>
        </a:solidFill>
        <a:effectLst/>
      </p:bgPr>
    </p:bg>
    <p:spTree>
      <p:nvGrpSpPr>
        <p:cNvPr id="1" name=""/>
        <p:cNvGrpSpPr/>
        <p:nvPr/>
      </p:nvGrpSpPr>
      <p:grpSpPr/>
      <p:sp>
        <p:nvSpPr>
          <p:cNvPr id="2" name="TextBox 1"/>
          <p:cNvSpPr txBox="1"/>
          <p:nvPr/>
        </p:nvSpPr>
        <p:spPr>
          <a:xfrm>
            <a:off x="475488" y="274320"/>
            <a:ext cx="11240719" cy="274320"/>
          </a:xfrm>
          <a:prstGeom prst="rect">
            <a:avLst/>
          </a:prstGeom>
          <a:noFill/>
        </p:spPr>
        <p:txBody>
          <a:bodyPr wrap="square" anchor="t" lIns="0" rIns="0" tIns="0" bIns="0">
            <a:spAutoFit/>
          </a:bodyPr>
          <a:lstStyle/>
          <a:p>
            <a:pPr>
              <a:spcAft>
                <a:spcPts val="0"/>
              </a:spcAft>
            </a:pPr>
            <a:r>
              <a:rPr sz="1150" b="1">
                <a:solidFill>
                  <a:srgbClr val="FF7A3D"/>
                </a:solidFill>
                <a:latin typeface="Consolas"/>
              </a:rPr>
              <a:t>05   </a:t>
            </a:r>
            <a:r>
              <a:rPr sz="1150" b="0">
                <a:solidFill>
                  <a:srgbClr val="B9CDD4"/>
                </a:solidFill>
                <a:latin typeface="Consolas"/>
              </a:rPr>
              <a:t>RESULT 3 · RELIABILITY</a:t>
            </a:r>
          </a:p>
        </p:txBody>
      </p:sp>
      <p:sp>
        <p:nvSpPr>
          <p:cNvPr id="3" name="Rectangle 2"/>
          <p:cNvSpPr/>
          <p:nvPr/>
        </p:nvSpPr>
        <p:spPr>
          <a:xfrm>
            <a:off x="475488" y="603504"/>
            <a:ext cx="11240719" cy="10972"/>
          </a:xfrm>
          <a:prstGeom prst="rect">
            <a:avLst/>
          </a:prstGeom>
          <a:solidFill>
            <a:srgbClr val="244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777240"/>
            <a:ext cx="11240719" cy="822960"/>
          </a:xfrm>
          <a:prstGeom prst="rect">
            <a:avLst/>
          </a:prstGeom>
          <a:noFill/>
        </p:spPr>
        <p:txBody>
          <a:bodyPr wrap="square" anchor="t" lIns="0" rIns="0" tIns="0" bIns="0">
            <a:spAutoFit/>
          </a:bodyPr>
          <a:lstStyle/>
          <a:p>
            <a:pPr algn="l">
              <a:lnSpc>
                <a:spcPct val="92000"/>
              </a:lnSpc>
              <a:spcAft>
                <a:spcPts val="0"/>
              </a:spcAft>
            </a:pPr>
            <a:r>
              <a:rPr sz="3000" b="1">
                <a:solidFill>
                  <a:srgbClr val="EAF2F2"/>
                </a:solidFill>
                <a:latin typeface="Segoe UI"/>
              </a:rPr>
              <a:t>Every tree edge is a bridge — and Steiner trees make it worse</a:t>
            </a:r>
          </a:p>
        </p:txBody>
      </p:sp>
      <p:pic>
        <p:nvPicPr>
          <p:cNvPr id="5" name="Picture 4" descr="fig4_reliability.png"/>
          <p:cNvPicPr>
            <a:picLocks noChangeAspect="1"/>
          </p:cNvPicPr>
          <p:nvPr/>
        </p:nvPicPr>
        <p:blipFill>
          <a:blip r:embed="rId2"/>
          <a:stretch>
            <a:fillRect/>
          </a:stretch>
        </p:blipFill>
        <p:spPr>
          <a:xfrm>
            <a:off x="475488" y="1554480"/>
            <a:ext cx="7635240" cy="2768861"/>
          </a:xfrm>
          <a:prstGeom prst="rect">
            <a:avLst/>
          </a:prstGeom>
        </p:spPr>
      </p:pic>
      <p:sp>
        <p:nvSpPr>
          <p:cNvPr id="6" name="TextBox 5"/>
          <p:cNvSpPr txBox="1"/>
          <p:nvPr/>
        </p:nvSpPr>
        <p:spPr>
          <a:xfrm>
            <a:off x="8385048" y="1627632"/>
            <a:ext cx="3331159" cy="2194560"/>
          </a:xfrm>
          <a:prstGeom prst="rect">
            <a:avLst/>
          </a:prstGeom>
          <a:noFill/>
        </p:spPr>
        <p:txBody>
          <a:bodyPr wrap="square" anchor="t" lIns="0" rIns="0" tIns="0" bIns="0">
            <a:spAutoFit/>
          </a:bodyPr>
          <a:lstStyle/>
          <a:p>
            <a:pPr algn="l">
              <a:spcAft>
                <a:spcPts val="800"/>
              </a:spcAft>
            </a:pPr>
            <a:r>
              <a:rPr sz="950" b="0">
                <a:solidFill>
                  <a:srgbClr val="8098A1"/>
                </a:solidFill>
                <a:latin typeface="Consolas"/>
              </a:rPr>
              <a:t>STUTTGART · WORST SINGLE PIPE FAILURE</a:t>
            </a:r>
          </a:p>
          <a:p>
            <a:pPr>
              <a:spcAft>
                <a:spcPts val="500"/>
              </a:spcAft>
            </a:pPr>
            <a:r>
              <a:rPr sz="1150" b="0">
                <a:solidFill>
                  <a:srgbClr val="B9CDD4"/>
                </a:solidFill>
                <a:latin typeface="Consolas"/>
              </a:rPr>
              <a:t>Star            </a:t>
            </a:r>
            <a:r>
              <a:rPr sz="1150" b="0">
                <a:solidFill>
                  <a:srgbClr val="EAF2F2"/>
                </a:solidFill>
                <a:latin typeface="Consolas"/>
              </a:rPr>
              <a:t> 43.72  </a:t>
            </a:r>
            <a:r>
              <a:rPr sz="1150" b="0">
                <a:solidFill>
                  <a:srgbClr val="8098A1"/>
                </a:solidFill>
                <a:latin typeface="Consolas"/>
              </a:rPr>
              <a:t> 40 br  </a:t>
            </a:r>
            <a:r>
              <a:rPr sz="1150" b="1">
                <a:solidFill>
                  <a:srgbClr val="5AD2A8"/>
                </a:solidFill>
                <a:latin typeface="Consolas"/>
              </a:rPr>
              <a:t> 95.6 %</a:t>
            </a:r>
          </a:p>
          <a:p>
            <a:pPr>
              <a:spcAft>
                <a:spcPts val="500"/>
              </a:spcAft>
            </a:pPr>
            <a:r>
              <a:rPr sz="1150" b="0">
                <a:solidFill>
                  <a:srgbClr val="B9CDD4"/>
                </a:solidFill>
                <a:latin typeface="Consolas"/>
              </a:rPr>
              <a:t>MST-terrain     </a:t>
            </a:r>
            <a:r>
              <a:rPr sz="1150" b="0">
                <a:solidFill>
                  <a:srgbClr val="EAF2F2"/>
                </a:solidFill>
                <a:latin typeface="Consolas"/>
              </a:rPr>
              <a:t> 22.39  </a:t>
            </a:r>
            <a:r>
              <a:rPr sz="1150" b="0">
                <a:solidFill>
                  <a:srgbClr val="8098A1"/>
                </a:solidFill>
                <a:latin typeface="Consolas"/>
              </a:rPr>
              <a:t> 40 br  </a:t>
            </a:r>
            <a:r>
              <a:rPr sz="1150" b="1">
                <a:solidFill>
                  <a:srgbClr val="FF6B6B"/>
                </a:solidFill>
                <a:latin typeface="Consolas"/>
              </a:rPr>
              <a:t>  0.0 %</a:t>
            </a:r>
          </a:p>
          <a:p>
            <a:pPr>
              <a:spcAft>
                <a:spcPts val="500"/>
              </a:spcAft>
            </a:pPr>
            <a:r>
              <a:rPr sz="1150" b="0">
                <a:solidFill>
                  <a:srgbClr val="B9CDD4"/>
                </a:solidFill>
                <a:latin typeface="Consolas"/>
              </a:rPr>
              <a:t>RSMT (cheapest) </a:t>
            </a:r>
            <a:r>
              <a:rPr sz="1150" b="0">
                <a:solidFill>
                  <a:srgbClr val="EAF2F2"/>
                </a:solidFill>
                <a:latin typeface="Consolas"/>
              </a:rPr>
              <a:t> 20.87  </a:t>
            </a:r>
            <a:r>
              <a:rPr sz="1150" b="0">
                <a:solidFill>
                  <a:srgbClr val="8098A1"/>
                </a:solidFill>
                <a:latin typeface="Consolas"/>
              </a:rPr>
              <a:t> 59 br  </a:t>
            </a:r>
            <a:r>
              <a:rPr sz="1150" b="1">
                <a:solidFill>
                  <a:srgbClr val="FF6B6B"/>
                </a:solidFill>
                <a:latin typeface="Consolas"/>
              </a:rPr>
              <a:t>  0.0 %</a:t>
            </a:r>
          </a:p>
          <a:p>
            <a:pPr>
              <a:spcAft>
                <a:spcPts val="500"/>
              </a:spcAft>
            </a:pPr>
            <a:r>
              <a:rPr sz="1150" b="0">
                <a:solidFill>
                  <a:srgbClr val="B9CDD4"/>
                </a:solidFill>
                <a:latin typeface="Consolas"/>
              </a:rPr>
              <a:t>MST-terrain +R  </a:t>
            </a:r>
            <a:r>
              <a:rPr sz="1150" b="0">
                <a:solidFill>
                  <a:srgbClr val="EAF2F2"/>
                </a:solidFill>
                <a:latin typeface="Consolas"/>
              </a:rPr>
              <a:t> 26.46  </a:t>
            </a:r>
            <a:r>
              <a:rPr sz="1150" b="0">
                <a:solidFill>
                  <a:srgbClr val="8098A1"/>
                </a:solidFill>
                <a:latin typeface="Consolas"/>
              </a:rPr>
              <a:t> 17 br  </a:t>
            </a:r>
            <a:r>
              <a:rPr sz="1150" b="1">
                <a:solidFill>
                  <a:srgbClr val="5AD2A8"/>
                </a:solidFill>
                <a:latin typeface="Consolas"/>
              </a:rPr>
              <a:t> 91.9 %</a:t>
            </a:r>
          </a:p>
        </p:txBody>
      </p:sp>
      <p:sp>
        <p:nvSpPr>
          <p:cNvPr id="7" name="Rectangle 6"/>
          <p:cNvSpPr/>
          <p:nvPr/>
        </p:nvSpPr>
        <p:spPr>
          <a:xfrm>
            <a:off x="8385048" y="3977639"/>
            <a:ext cx="41148" cy="1371600"/>
          </a:xfrm>
          <a:prstGeom prst="rect">
            <a:avLst/>
          </a:prstGeom>
          <a:solidFill>
            <a:srgbClr val="FF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67928" y="3995927"/>
            <a:ext cx="3111703" cy="1371600"/>
          </a:xfrm>
          <a:prstGeom prst="rect">
            <a:avLst/>
          </a:prstGeom>
          <a:noFill/>
        </p:spPr>
        <p:txBody>
          <a:bodyPr wrap="square" anchor="t" lIns="0" rIns="0" tIns="0" bIns="0">
            <a:spAutoFit/>
          </a:bodyPr>
          <a:lstStyle/>
          <a:p>
            <a:pPr algn="l">
              <a:spcAft>
                <a:spcPts val="400"/>
              </a:spcAft>
            </a:pPr>
            <a:r>
              <a:rPr sz="950" b="0">
                <a:solidFill>
                  <a:srgbClr val="FF7A3D"/>
                </a:solidFill>
                <a:latin typeface="Consolas"/>
              </a:rPr>
              <a:t>ANSWERING THE FAULT QUESTION</a:t>
            </a:r>
          </a:p>
          <a:p>
            <a:pPr algn="l">
              <a:lnSpc>
                <a:spcPct val="98000"/>
              </a:lnSpc>
              <a:spcAft>
                <a:spcPts val="0"/>
              </a:spcAft>
            </a:pPr>
            <a:r>
              <a:rPr sz="1300" b="0">
                <a:solidFill>
                  <a:srgbClr val="EAF2F2"/>
                </a:solidFill>
                <a:latin typeface="Segoe UI"/>
              </a:rPr>
              <a:t>A Steiner tree is still a tree. It buys length — RSMT is the cheapest topology — but concentrates flow into shared trunks, so it is MORE fragile.</a:t>
            </a:r>
          </a:p>
        </p:txBody>
      </p:sp>
      <p:sp>
        <p:nvSpPr>
          <p:cNvPr id="9" name="Rectangle 8"/>
          <p:cNvSpPr/>
          <p:nvPr/>
        </p:nvSpPr>
        <p:spPr>
          <a:xfrm>
            <a:off x="8385048" y="5532120"/>
            <a:ext cx="41148" cy="1005840"/>
          </a:xfrm>
          <a:prstGeom prst="rect">
            <a:avLst/>
          </a:prstGeom>
          <a:solidFill>
            <a:srgbClr val="5AD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67928" y="5550407"/>
            <a:ext cx="3111703" cy="1005840"/>
          </a:xfrm>
          <a:prstGeom prst="rect">
            <a:avLst/>
          </a:prstGeom>
          <a:noFill/>
        </p:spPr>
        <p:txBody>
          <a:bodyPr wrap="square" anchor="t" lIns="0" rIns="0" tIns="0" bIns="0">
            <a:spAutoFit/>
          </a:bodyPr>
          <a:lstStyle/>
          <a:p>
            <a:pPr algn="l">
              <a:spcAft>
                <a:spcPts val="400"/>
              </a:spcAft>
            </a:pPr>
            <a:r>
              <a:rPr sz="950" b="0">
                <a:solidFill>
                  <a:srgbClr val="5AD2A8"/>
                </a:solidFill>
                <a:latin typeface="Consolas"/>
              </a:rPr>
              <a:t>THE FIX COSTS 4.3 %</a:t>
            </a:r>
          </a:p>
          <a:p>
            <a:pPr algn="l">
              <a:lnSpc>
                <a:spcPct val="98000"/>
              </a:lnSpc>
              <a:spcAft>
                <a:spcPts val="0"/>
              </a:spcAft>
            </a:pPr>
            <a:r>
              <a:rPr sz="1300" b="0">
                <a:solidFill>
                  <a:srgbClr val="EAF2F2"/>
                </a:solidFill>
                <a:latin typeface="Segoe UI"/>
              </a:rPr>
              <a:t>One redundant pipe: −57 % expected unserved demand, N−1 survival 0 → 68 %.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A1F"/>
        </a:solidFill>
        <a:effectLst/>
      </p:bgPr>
    </p:bg>
    <p:spTree>
      <p:nvGrpSpPr>
        <p:cNvPr id="1" name=""/>
        <p:cNvGrpSpPr/>
        <p:nvPr/>
      </p:nvGrpSpPr>
      <p:grpSpPr/>
      <p:sp>
        <p:nvSpPr>
          <p:cNvPr id="2" name="TextBox 1"/>
          <p:cNvSpPr txBox="1"/>
          <p:nvPr/>
        </p:nvSpPr>
        <p:spPr>
          <a:xfrm>
            <a:off x="475488" y="274320"/>
            <a:ext cx="11240719" cy="274320"/>
          </a:xfrm>
          <a:prstGeom prst="rect">
            <a:avLst/>
          </a:prstGeom>
          <a:noFill/>
        </p:spPr>
        <p:txBody>
          <a:bodyPr wrap="square" anchor="t" lIns="0" rIns="0" tIns="0" bIns="0">
            <a:spAutoFit/>
          </a:bodyPr>
          <a:lstStyle/>
          <a:p>
            <a:pPr>
              <a:spcAft>
                <a:spcPts val="0"/>
              </a:spcAft>
            </a:pPr>
            <a:r>
              <a:rPr sz="1150" b="1">
                <a:solidFill>
                  <a:srgbClr val="FF7A3D"/>
                </a:solidFill>
                <a:latin typeface="Consolas"/>
              </a:rPr>
              <a:t>06   </a:t>
            </a:r>
            <a:r>
              <a:rPr sz="1150" b="0">
                <a:solidFill>
                  <a:srgbClr val="B9CDD4"/>
                </a:solidFill>
                <a:latin typeface="Consolas"/>
              </a:rPr>
              <a:t>RESULT 4 · ALGORITHMS AND THE REPRODUCTION</a:t>
            </a:r>
          </a:p>
        </p:txBody>
      </p:sp>
      <p:sp>
        <p:nvSpPr>
          <p:cNvPr id="3" name="Rectangle 2"/>
          <p:cNvSpPr/>
          <p:nvPr/>
        </p:nvSpPr>
        <p:spPr>
          <a:xfrm>
            <a:off x="475488" y="603504"/>
            <a:ext cx="11240719" cy="10972"/>
          </a:xfrm>
          <a:prstGeom prst="rect">
            <a:avLst/>
          </a:prstGeom>
          <a:solidFill>
            <a:srgbClr val="244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777240"/>
            <a:ext cx="11240719" cy="822960"/>
          </a:xfrm>
          <a:prstGeom prst="rect">
            <a:avLst/>
          </a:prstGeom>
          <a:noFill/>
        </p:spPr>
        <p:txBody>
          <a:bodyPr wrap="square" anchor="t" lIns="0" rIns="0" tIns="0" bIns="0">
            <a:spAutoFit/>
          </a:bodyPr>
          <a:lstStyle/>
          <a:p>
            <a:pPr algn="l">
              <a:lnSpc>
                <a:spcPct val="92000"/>
              </a:lnSpc>
              <a:spcAft>
                <a:spcPts val="0"/>
              </a:spcAft>
            </a:pPr>
            <a:r>
              <a:rPr sz="3000" b="1">
                <a:solidFill>
                  <a:srgbClr val="EAF2F2"/>
                </a:solidFill>
                <a:latin typeface="Segoe UI"/>
              </a:rPr>
              <a:t>Kruskal vs Prim, and two findings against the source paper</a:t>
            </a:r>
          </a:p>
        </p:txBody>
      </p:sp>
      <p:pic>
        <p:nvPicPr>
          <p:cNvPr id="5" name="Picture 4" descr="fig5_algorithms.png"/>
          <p:cNvPicPr>
            <a:picLocks noChangeAspect="1"/>
          </p:cNvPicPr>
          <p:nvPr/>
        </p:nvPicPr>
        <p:blipFill>
          <a:blip r:embed="rId2"/>
          <a:stretch>
            <a:fillRect/>
          </a:stretch>
        </p:blipFill>
        <p:spPr>
          <a:xfrm>
            <a:off x="475488" y="1554480"/>
            <a:ext cx="6537960" cy="2643728"/>
          </a:xfrm>
          <a:prstGeom prst="rect">
            <a:avLst/>
          </a:prstGeom>
        </p:spPr>
      </p:pic>
      <p:sp>
        <p:nvSpPr>
          <p:cNvPr id="6" name="TextBox 5"/>
          <p:cNvSpPr txBox="1"/>
          <p:nvPr/>
        </p:nvSpPr>
        <p:spPr>
          <a:xfrm>
            <a:off x="7287768" y="1627632"/>
            <a:ext cx="4428439" cy="1737360"/>
          </a:xfrm>
          <a:prstGeom prst="rect">
            <a:avLst/>
          </a:prstGeom>
          <a:noFill/>
        </p:spPr>
        <p:txBody>
          <a:bodyPr wrap="square" anchor="t" lIns="0" rIns="0" tIns="0" bIns="0">
            <a:spAutoFit/>
          </a:bodyPr>
          <a:lstStyle/>
          <a:p>
            <a:pPr algn="l">
              <a:spcAft>
                <a:spcPts val="800"/>
              </a:spcAft>
            </a:pPr>
            <a:r>
              <a:rPr sz="950" b="0">
                <a:solidFill>
                  <a:srgbClr val="8098A1"/>
                </a:solidFill>
                <a:latin typeface="Consolas"/>
              </a:rPr>
              <a:t>V = 1600,  E = 1,279,200</a:t>
            </a:r>
          </a:p>
          <a:p>
            <a:pPr>
              <a:spcAft>
                <a:spcPts val="600"/>
              </a:spcAft>
            </a:pPr>
            <a:r>
              <a:rPr sz="1250" b="0">
                <a:solidFill>
                  <a:srgbClr val="B9CDD4"/>
                </a:solidFill>
                <a:latin typeface="Consolas"/>
              </a:rPr>
              <a:t>Kruskal  union-find  </a:t>
            </a:r>
            <a:r>
              <a:rPr sz="1250" b="1">
                <a:solidFill>
                  <a:srgbClr val="EAF2F2"/>
                </a:solidFill>
                <a:latin typeface="Consolas"/>
              </a:rPr>
              <a:t>    420 ms</a:t>
            </a:r>
          </a:p>
          <a:p>
            <a:pPr>
              <a:spcAft>
                <a:spcPts val="600"/>
              </a:spcAft>
            </a:pPr>
            <a:r>
              <a:rPr sz="1250" b="0">
                <a:solidFill>
                  <a:srgbClr val="B9CDD4"/>
                </a:solidFill>
                <a:latin typeface="Consolas"/>
              </a:rPr>
              <a:t>Prim     binary heap </a:t>
            </a:r>
            <a:r>
              <a:rPr sz="1250" b="1">
                <a:solidFill>
                  <a:srgbClr val="FF6B6B"/>
                </a:solidFill>
                <a:latin typeface="Consolas"/>
              </a:rPr>
              <a:t>   6114 ms</a:t>
            </a:r>
          </a:p>
          <a:p>
            <a:pPr>
              <a:spcAft>
                <a:spcPts val="600"/>
              </a:spcAft>
            </a:pPr>
            <a:r>
              <a:rPr sz="1250" b="0">
                <a:solidFill>
                  <a:srgbClr val="B9CDD4"/>
                </a:solidFill>
                <a:latin typeface="Consolas"/>
              </a:rPr>
              <a:t>Prim     dense array </a:t>
            </a:r>
            <a:r>
              <a:rPr sz="1250" b="1">
                <a:solidFill>
                  <a:srgbClr val="5AD2A8"/>
                </a:solidFill>
                <a:latin typeface="Consolas"/>
              </a:rPr>
              <a:t>   28.8 ms</a:t>
            </a:r>
          </a:p>
        </p:txBody>
      </p:sp>
      <p:sp>
        <p:nvSpPr>
          <p:cNvPr id="7" name="Rectangle 6"/>
          <p:cNvSpPr/>
          <p:nvPr/>
        </p:nvSpPr>
        <p:spPr>
          <a:xfrm>
            <a:off x="7287768" y="3401568"/>
            <a:ext cx="41148" cy="1234440"/>
          </a:xfrm>
          <a:prstGeom prst="rect">
            <a:avLst/>
          </a:prstGeom>
          <a:solidFill>
            <a:srgbClr val="FF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70648" y="3419856"/>
            <a:ext cx="4208983" cy="1234440"/>
          </a:xfrm>
          <a:prstGeom prst="rect">
            <a:avLst/>
          </a:prstGeom>
          <a:noFill/>
        </p:spPr>
        <p:txBody>
          <a:bodyPr wrap="square" anchor="t" lIns="0" rIns="0" tIns="0" bIns="0">
            <a:spAutoFit/>
          </a:bodyPr>
          <a:lstStyle/>
          <a:p>
            <a:pPr algn="l">
              <a:spcAft>
                <a:spcPts val="400"/>
              </a:spcAft>
            </a:pPr>
            <a:r>
              <a:rPr sz="950" b="0">
                <a:solidFill>
                  <a:srgbClr val="FF7A3D"/>
                </a:solidFill>
                <a:latin typeface="Consolas"/>
              </a:rPr>
              <a:t>WE WERE WRONG, AND MEASURED IT</a:t>
            </a:r>
          </a:p>
          <a:p>
            <a:pPr algn="l">
              <a:lnSpc>
                <a:spcPct val="98000"/>
              </a:lnSpc>
              <a:spcAft>
                <a:spcPts val="0"/>
              </a:spcAft>
            </a:pPr>
            <a:r>
              <a:rPr sz="1300" b="0">
                <a:solidFill>
                  <a:srgbClr val="EAF2F2"/>
                </a:solidFill>
                <a:latin typeface="Segoe UI"/>
              </a:rPr>
              <a:t>We predicted density favours Prim. It favours DENSE Prim — 212× faster than the heap version. Kruskal wins by early exit, examining 0.7 % of edges.</a:t>
            </a:r>
          </a:p>
        </p:txBody>
      </p:sp>
      <p:sp>
        <p:nvSpPr>
          <p:cNvPr id="9" name="Rectangle 8"/>
          <p:cNvSpPr/>
          <p:nvPr/>
        </p:nvSpPr>
        <p:spPr>
          <a:xfrm>
            <a:off x="7287768" y="4800600"/>
            <a:ext cx="41148" cy="914400"/>
          </a:xfrm>
          <a:prstGeom prst="rect">
            <a:avLst/>
          </a:prstGeom>
          <a:solidFill>
            <a:srgbClr val="FFCC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70648" y="4818888"/>
            <a:ext cx="4208983" cy="914400"/>
          </a:xfrm>
          <a:prstGeom prst="rect">
            <a:avLst/>
          </a:prstGeom>
          <a:noFill/>
        </p:spPr>
        <p:txBody>
          <a:bodyPr wrap="square" anchor="t" lIns="0" rIns="0" tIns="0" bIns="0">
            <a:spAutoFit/>
          </a:bodyPr>
          <a:lstStyle/>
          <a:p>
            <a:pPr algn="l">
              <a:spcAft>
                <a:spcPts val="400"/>
              </a:spcAft>
            </a:pPr>
            <a:r>
              <a:rPr sz="950" b="0">
                <a:solidFill>
                  <a:srgbClr val="FFCC55"/>
                </a:solidFill>
                <a:latin typeface="Consolas"/>
              </a:rPr>
              <a:t>PAPER FINDING 1</a:t>
            </a:r>
          </a:p>
          <a:p>
            <a:pPr algn="l">
              <a:lnSpc>
                <a:spcPct val="98000"/>
              </a:lnSpc>
              <a:spcAft>
                <a:spcPts val="0"/>
              </a:spcAft>
            </a:pPr>
            <a:r>
              <a:rPr sz="1300" b="0">
                <a:solidFill>
                  <a:srgbClr val="EAF2F2"/>
                </a:solidFill>
                <a:latin typeface="Segoe UI"/>
              </a:rPr>
              <a:t>Table 2 is not self-consistent: the Star/MST cost ratio implies 357 kg/s, the absolute cost implies 87.5 — 3×.</a:t>
            </a:r>
          </a:p>
        </p:txBody>
      </p:sp>
      <p:sp>
        <p:nvSpPr>
          <p:cNvPr id="11" name="Rectangle 10"/>
          <p:cNvSpPr/>
          <p:nvPr/>
        </p:nvSpPr>
        <p:spPr>
          <a:xfrm>
            <a:off x="7287768" y="5852160"/>
            <a:ext cx="41148" cy="868680"/>
          </a:xfrm>
          <a:prstGeom prst="rect">
            <a:avLst/>
          </a:prstGeom>
          <a:solidFill>
            <a:srgbClr val="FFCC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70648" y="5870448"/>
            <a:ext cx="4208983" cy="868680"/>
          </a:xfrm>
          <a:prstGeom prst="rect">
            <a:avLst/>
          </a:prstGeom>
          <a:noFill/>
        </p:spPr>
        <p:txBody>
          <a:bodyPr wrap="square" anchor="t" lIns="0" rIns="0" tIns="0" bIns="0">
            <a:spAutoFit/>
          </a:bodyPr>
          <a:lstStyle/>
          <a:p>
            <a:pPr algn="l">
              <a:spcAft>
                <a:spcPts val="400"/>
              </a:spcAft>
            </a:pPr>
            <a:r>
              <a:rPr sz="950" b="0">
                <a:solidFill>
                  <a:srgbClr val="FFCC55"/>
                </a:solidFill>
                <a:latin typeface="Consolas"/>
              </a:rPr>
              <a:t>PAPER FINDING 2</a:t>
            </a:r>
          </a:p>
          <a:p>
            <a:pPr algn="l">
              <a:lnSpc>
                <a:spcPct val="98000"/>
              </a:lnSpc>
              <a:spcAft>
                <a:spcPts val="0"/>
              </a:spcAft>
            </a:pPr>
            <a:r>
              <a:rPr sz="1300" b="0">
                <a:solidFill>
                  <a:srgbClr val="EAF2F2"/>
                </a:solidFill>
                <a:latin typeface="Segoe UI"/>
              </a:rPr>
              <a:t>Reported ESMT/MST = 0.86555 sits below the proved Du–Hwang bound √3/2 = 0.86603.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A1F"/>
        </a:solidFill>
        <a:effectLst/>
      </p:bgPr>
    </p:bg>
    <p:spTree>
      <p:nvGrpSpPr>
        <p:cNvPr id="1" name=""/>
        <p:cNvGrpSpPr/>
        <p:nvPr/>
      </p:nvGrpSpPr>
      <p:grpSpPr/>
      <p:sp>
        <p:nvSpPr>
          <p:cNvPr id="2" name="TextBox 1"/>
          <p:cNvSpPr txBox="1"/>
          <p:nvPr/>
        </p:nvSpPr>
        <p:spPr>
          <a:xfrm>
            <a:off x="475488" y="274320"/>
            <a:ext cx="11240719" cy="274320"/>
          </a:xfrm>
          <a:prstGeom prst="rect">
            <a:avLst/>
          </a:prstGeom>
          <a:noFill/>
        </p:spPr>
        <p:txBody>
          <a:bodyPr wrap="square" anchor="t" lIns="0" rIns="0" tIns="0" bIns="0">
            <a:spAutoFit/>
          </a:bodyPr>
          <a:lstStyle/>
          <a:p>
            <a:pPr>
              <a:spcAft>
                <a:spcPts val="0"/>
              </a:spcAft>
            </a:pPr>
            <a:r>
              <a:rPr sz="1150" b="1">
                <a:solidFill>
                  <a:srgbClr val="FF7A3D"/>
                </a:solidFill>
                <a:latin typeface="Consolas"/>
              </a:rPr>
              <a:t>07   </a:t>
            </a:r>
            <a:r>
              <a:rPr sz="1150" b="0">
                <a:solidFill>
                  <a:srgbClr val="B9CDD4"/>
                </a:solidFill>
                <a:latin typeface="Consolas"/>
              </a:rPr>
              <a:t>CONCLUSION</a:t>
            </a:r>
          </a:p>
        </p:txBody>
      </p:sp>
      <p:sp>
        <p:nvSpPr>
          <p:cNvPr id="3" name="Rectangle 2"/>
          <p:cNvSpPr/>
          <p:nvPr/>
        </p:nvSpPr>
        <p:spPr>
          <a:xfrm>
            <a:off x="475488" y="603504"/>
            <a:ext cx="11240719" cy="10972"/>
          </a:xfrm>
          <a:prstGeom prst="rect">
            <a:avLst/>
          </a:prstGeom>
          <a:solidFill>
            <a:srgbClr val="244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777240"/>
            <a:ext cx="11240719" cy="822960"/>
          </a:xfrm>
          <a:prstGeom prst="rect">
            <a:avLst/>
          </a:prstGeom>
          <a:noFill/>
        </p:spPr>
        <p:txBody>
          <a:bodyPr wrap="square" anchor="t" lIns="0" rIns="0" tIns="0" bIns="0">
            <a:spAutoFit/>
          </a:bodyPr>
          <a:lstStyle/>
          <a:p>
            <a:pPr algn="l">
              <a:lnSpc>
                <a:spcPct val="92000"/>
              </a:lnSpc>
              <a:spcAft>
                <a:spcPts val="0"/>
              </a:spcAft>
            </a:pPr>
            <a:r>
              <a:rPr sz="2700" b="1">
                <a:solidFill>
                  <a:srgbClr val="EAF2F2"/>
                </a:solidFill>
                <a:latin typeface="Segoe UI"/>
              </a:rPr>
              <a:t>Terrain belongs in the weight. Pressure class belongs in the constraints. Reliability belongs in the objective.</a:t>
            </a:r>
          </a:p>
        </p:txBody>
      </p:sp>
      <p:sp>
        <p:nvSpPr>
          <p:cNvPr id="5" name="Rectangle 4"/>
          <p:cNvSpPr/>
          <p:nvPr/>
        </p:nvSpPr>
        <p:spPr>
          <a:xfrm>
            <a:off x="475488" y="2423160"/>
            <a:ext cx="2590723" cy="1325880"/>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2551176"/>
            <a:ext cx="2298115" cy="1069848"/>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COST</a:t>
            </a:r>
          </a:p>
          <a:p>
            <a:pPr algn="l">
              <a:lnSpc>
                <a:spcPct val="90000"/>
              </a:lnSpc>
              <a:spcAft>
                <a:spcPts val="300"/>
              </a:spcAft>
            </a:pPr>
            <a:r>
              <a:rPr sz="2700" b="1">
                <a:solidFill>
                  <a:srgbClr val="FF7A3D"/>
                </a:solidFill>
                <a:latin typeface="Segoe UI"/>
              </a:rPr>
              <a:t>−3.0 %</a:t>
            </a:r>
          </a:p>
          <a:p>
            <a:pPr algn="l">
              <a:lnSpc>
                <a:spcPct val="95000"/>
              </a:lnSpc>
              <a:spcAft>
                <a:spcPts val="0"/>
              </a:spcAft>
            </a:pPr>
            <a:r>
              <a:rPr sz="1150" b="0">
                <a:solidFill>
                  <a:srgbClr val="B9CDD4"/>
                </a:solidFill>
                <a:latin typeface="Segoe UI"/>
              </a:rPr>
              <a:t>terrain-weighted MST, Stuttgart</a:t>
            </a:r>
          </a:p>
        </p:txBody>
      </p:sp>
      <p:sp>
        <p:nvSpPr>
          <p:cNvPr id="7" name="Rectangle 6"/>
          <p:cNvSpPr/>
          <p:nvPr/>
        </p:nvSpPr>
        <p:spPr>
          <a:xfrm>
            <a:off x="3285667" y="2423160"/>
            <a:ext cx="2590723" cy="1325880"/>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31971" y="2551176"/>
            <a:ext cx="2298115" cy="1069848"/>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FEASIBILITY</a:t>
            </a:r>
          </a:p>
          <a:p>
            <a:pPr algn="l">
              <a:lnSpc>
                <a:spcPct val="90000"/>
              </a:lnSpc>
              <a:spcAft>
                <a:spcPts val="300"/>
              </a:spcAft>
            </a:pPr>
            <a:r>
              <a:rPr sz="2700" b="1">
                <a:solidFill>
                  <a:srgbClr val="FFCC55"/>
                </a:solidFill>
                <a:latin typeface="Segoe UI"/>
              </a:rPr>
              <a:t>2 zones</a:t>
            </a:r>
          </a:p>
          <a:p>
            <a:pPr algn="l">
              <a:lnSpc>
                <a:spcPct val="95000"/>
              </a:lnSpc>
              <a:spcAft>
                <a:spcPts val="0"/>
              </a:spcAft>
            </a:pPr>
            <a:r>
              <a:rPr sz="1150" b="0">
                <a:solidFill>
                  <a:srgbClr val="B9CDD4"/>
                </a:solidFill>
                <a:latin typeface="Segoe UI"/>
              </a:rPr>
              <a:t>PN16 exceeded by 10 bar</a:t>
            </a:r>
          </a:p>
        </p:txBody>
      </p:sp>
      <p:sp>
        <p:nvSpPr>
          <p:cNvPr id="9" name="Rectangle 8"/>
          <p:cNvSpPr/>
          <p:nvPr/>
        </p:nvSpPr>
        <p:spPr>
          <a:xfrm>
            <a:off x="6095847" y="2423160"/>
            <a:ext cx="2590723" cy="1325880"/>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2151" y="2551176"/>
            <a:ext cx="2298115" cy="1069848"/>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RELIABILITY</a:t>
            </a:r>
          </a:p>
          <a:p>
            <a:pPr algn="l">
              <a:lnSpc>
                <a:spcPct val="90000"/>
              </a:lnSpc>
              <a:spcAft>
                <a:spcPts val="300"/>
              </a:spcAft>
            </a:pPr>
            <a:r>
              <a:rPr sz="2700" b="1">
                <a:solidFill>
                  <a:srgbClr val="5AD2A8"/>
                </a:solidFill>
                <a:latin typeface="Segoe UI"/>
              </a:rPr>
              <a:t>+4.3 % → −57 %</a:t>
            </a:r>
          </a:p>
          <a:p>
            <a:pPr algn="l">
              <a:lnSpc>
                <a:spcPct val="95000"/>
              </a:lnSpc>
              <a:spcAft>
                <a:spcPts val="0"/>
              </a:spcAft>
            </a:pPr>
            <a:r>
              <a:rPr sz="1150" b="0">
                <a:solidFill>
                  <a:srgbClr val="B9CDD4"/>
                </a:solidFill>
                <a:latin typeface="Segoe UI"/>
              </a:rPr>
              <a:t>cost premium vs unserved demand</a:t>
            </a:r>
          </a:p>
        </p:txBody>
      </p:sp>
      <p:sp>
        <p:nvSpPr>
          <p:cNvPr id="11" name="Rectangle 10"/>
          <p:cNvSpPr/>
          <p:nvPr/>
        </p:nvSpPr>
        <p:spPr>
          <a:xfrm>
            <a:off x="8906027" y="2423160"/>
            <a:ext cx="2590723" cy="1325880"/>
          </a:xfrm>
          <a:prstGeom prst="rect">
            <a:avLst/>
          </a:prstGeom>
          <a:solidFill>
            <a:srgbClr val="14262D"/>
          </a:solidFill>
          <a:ln w="9525">
            <a:solidFill>
              <a:srgbClr val="244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331" y="2551176"/>
            <a:ext cx="2298115" cy="1069848"/>
          </a:xfrm>
          <a:prstGeom prst="rect">
            <a:avLst/>
          </a:prstGeom>
          <a:noFill/>
        </p:spPr>
        <p:txBody>
          <a:bodyPr wrap="square" anchor="t" lIns="0" rIns="0" tIns="0" bIns="0">
            <a:spAutoFit/>
          </a:bodyPr>
          <a:lstStyle/>
          <a:p>
            <a:pPr algn="l">
              <a:spcAft>
                <a:spcPts val="400"/>
              </a:spcAft>
            </a:pPr>
            <a:r>
              <a:rPr sz="950" b="0">
                <a:solidFill>
                  <a:srgbClr val="8098A1"/>
                </a:solidFill>
                <a:latin typeface="Consolas"/>
              </a:rPr>
              <a:t>ALGORITHMS</a:t>
            </a:r>
          </a:p>
          <a:p>
            <a:pPr algn="l">
              <a:lnSpc>
                <a:spcPct val="90000"/>
              </a:lnSpc>
              <a:spcAft>
                <a:spcPts val="300"/>
              </a:spcAft>
            </a:pPr>
            <a:r>
              <a:rPr sz="2700" b="1">
                <a:solidFill>
                  <a:srgbClr val="5AD2A8"/>
                </a:solidFill>
                <a:latin typeface="Segoe UI"/>
              </a:rPr>
              <a:t>212×</a:t>
            </a:r>
          </a:p>
          <a:p>
            <a:pPr algn="l">
              <a:lnSpc>
                <a:spcPct val="95000"/>
              </a:lnSpc>
              <a:spcAft>
                <a:spcPts val="0"/>
              </a:spcAft>
            </a:pPr>
            <a:r>
              <a:rPr sz="1150" b="0">
                <a:solidFill>
                  <a:srgbClr val="B9CDD4"/>
                </a:solidFill>
                <a:latin typeface="Segoe UI"/>
              </a:rPr>
              <a:t>dense Prim over heap Prim</a:t>
            </a:r>
          </a:p>
        </p:txBody>
      </p:sp>
      <p:sp>
        <p:nvSpPr>
          <p:cNvPr id="13" name="TextBox 12"/>
          <p:cNvSpPr txBox="1"/>
          <p:nvPr/>
        </p:nvSpPr>
        <p:spPr>
          <a:xfrm>
            <a:off x="475488" y="4160520"/>
            <a:ext cx="11240719" cy="822960"/>
          </a:xfrm>
          <a:prstGeom prst="rect">
            <a:avLst/>
          </a:prstGeom>
          <a:noFill/>
        </p:spPr>
        <p:txBody>
          <a:bodyPr wrap="square" anchor="t" lIns="0" rIns="0" tIns="0" bIns="0">
            <a:spAutoFit/>
          </a:bodyPr>
          <a:lstStyle/>
          <a:p>
            <a:pPr algn="l">
              <a:lnSpc>
                <a:spcPct val="105000"/>
              </a:lnSpc>
              <a:spcAft>
                <a:spcPts val="0"/>
              </a:spcAft>
            </a:pPr>
            <a:r>
              <a:rPr sz="1700" b="0">
                <a:solidFill>
                  <a:srgbClr val="EAF2F2"/>
                </a:solidFill>
                <a:latin typeface="Segoe UI"/>
              </a:rPr>
              <a:t>On flat ground a minimum spanning tree is the right answer. On real terrain it is neither minimum-cost nor necessarily buildable — and because every tree edge is a bridge, it is never robust.</a:t>
            </a:r>
          </a:p>
        </p:txBody>
      </p:sp>
      <p:sp>
        <p:nvSpPr>
          <p:cNvPr id="14" name="Rectangle 13"/>
          <p:cNvSpPr/>
          <p:nvPr/>
        </p:nvSpPr>
        <p:spPr>
          <a:xfrm>
            <a:off x="475488" y="5166360"/>
            <a:ext cx="11240719" cy="10972"/>
          </a:xfrm>
          <a:prstGeom prst="rect">
            <a:avLst/>
          </a:prstGeom>
          <a:solidFill>
            <a:srgbClr val="244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5349240"/>
            <a:ext cx="6035040" cy="1097280"/>
          </a:xfrm>
          <a:prstGeom prst="rect">
            <a:avLst/>
          </a:prstGeom>
          <a:noFill/>
        </p:spPr>
        <p:txBody>
          <a:bodyPr wrap="square" anchor="t" lIns="0" rIns="0" tIns="0" bIns="0">
            <a:spAutoFit/>
          </a:bodyPr>
          <a:lstStyle/>
          <a:p>
            <a:pPr algn="l">
              <a:spcAft>
                <a:spcPts val="600"/>
              </a:spcAft>
            </a:pPr>
            <a:r>
              <a:rPr sz="950" b="0">
                <a:solidFill>
                  <a:srgbClr val="8098A1"/>
                </a:solidFill>
                <a:latin typeface="Consolas"/>
              </a:rPr>
              <a:t>NEXT</a:t>
            </a:r>
          </a:p>
          <a:p>
            <a:pPr algn="l">
              <a:lnSpc>
                <a:spcPct val="100000"/>
              </a:lnSpc>
              <a:spcAft>
                <a:spcPts val="0"/>
              </a:spcAft>
            </a:pPr>
            <a:r>
              <a:rPr sz="1250" b="0">
                <a:solidFill>
                  <a:srgbClr val="B9CDD4"/>
                </a:solidFill>
                <a:latin typeface="Segoe UI"/>
              </a:rPr>
              <a:t>Exact ILP bound on the greedy redundancy  ·  seasonal part-load  ·  a third district to test the 151 m threshold</a:t>
            </a:r>
          </a:p>
        </p:txBody>
      </p:sp>
      <p:sp>
        <p:nvSpPr>
          <p:cNvPr id="16" name="TextBox 15"/>
          <p:cNvSpPr txBox="1"/>
          <p:nvPr/>
        </p:nvSpPr>
        <p:spPr>
          <a:xfrm>
            <a:off x="6784848" y="5349240"/>
            <a:ext cx="4931359" cy="1097280"/>
          </a:xfrm>
          <a:prstGeom prst="rect">
            <a:avLst/>
          </a:prstGeom>
          <a:noFill/>
        </p:spPr>
        <p:txBody>
          <a:bodyPr wrap="square" anchor="t" lIns="0" rIns="0" tIns="0" bIns="0">
            <a:spAutoFit/>
          </a:bodyPr>
          <a:lstStyle/>
          <a:p>
            <a:pPr algn="l">
              <a:spcAft>
                <a:spcPts val="600"/>
              </a:spcAft>
            </a:pPr>
            <a:r>
              <a:rPr sz="950" b="0">
                <a:solidFill>
                  <a:srgbClr val="8098A1"/>
                </a:solidFill>
                <a:latin typeface="Consolas"/>
              </a:rPr>
              <a:t>DATA</a:t>
            </a:r>
          </a:p>
          <a:p>
            <a:pPr algn="l">
              <a:lnSpc>
                <a:spcPct val="100000"/>
              </a:lnSpc>
              <a:spcAft>
                <a:spcPts val="0"/>
              </a:spcAft>
            </a:pPr>
            <a:r>
              <a:rPr sz="1250" b="0">
                <a:solidFill>
                  <a:srgbClr val="B9CDD4"/>
                </a:solidFill>
                <a:latin typeface="Segoe UI"/>
              </a:rPr>
              <a:t>AixDHN (RWTH Aachen, MIT)  ·  NASA SRTM 30 m  ·  EN 253  ·  Eurostat  ·  Persson &amp; Werner (2011)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